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Phase 2: audit → re-measure → re-test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66666"/>
                </a:solidFill>
              </a:rPr>
              <a:t>the question changed from 'which batch is different?' to 'which numbers can we defend?'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1A1A2E"/>
                </a:solidFill>
              </a:rPr>
              <a:t>Every marker re-derived</a:t>
            </a:r>
            <a:r>
              <a:rPr sz="1500">
                <a:solidFill>
                  <a:srgbClr val="1A1A2E"/>
                </a:solidFill>
              </a:rPr>
              <a:t> under the frozen Batch_3-fitted recipe; every claim re-graded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A1A2E"/>
                </a:solidFill>
              </a:rPr>
              <a:t>Sorted into a scorecard, not a verdict</a:t>
            </a:r>
            <a:r>
              <a:rPr sz="1500">
                <a:solidFill>
                  <a:srgbClr val="1A1A2E"/>
                </a:solidFill>
              </a:rPr>
              <a:t> — MARKER_SCORECARD.md + AUDIT_LEDGER.md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Tier A — validated descriptors (describe, don't discriminate)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Tier B — candidate associations (real in crops, unprovable as material)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Tier C — model-derived + correlation layer (fresh, corrected)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Tier X — demoted/withdrawn (documented, not deleted)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A1A2E"/>
                </a:solidFill>
              </a:rPr>
              <a:t>9 defects reproduced and repaired</a:t>
            </a:r>
            <a:r>
              <a:rPr sz="1500">
                <a:solidFill>
                  <a:srgbClr val="1A1A2E"/>
                </a:solidFill>
              </a:rPr>
              <a:t> on the way (contact denominators,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BH step-up, NaN→p=0, channel masks, crack direction, QC weight leak…)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A1A2E"/>
                </a:solidFill>
              </a:rPr>
              <a:t>Deliverable = an evidence ledger</a:t>
            </a:r>
            <a:r>
              <a:rPr sz="1500">
                <a:solidFill>
                  <a:srgbClr val="1A1A2E"/>
                </a:solidFill>
              </a:rPr>
              <a:t> — every number traced to file +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What survives: shared structure, one corrected 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66666"/>
                </a:solidFill>
              </a:rPr>
              <a:t>Tier A — all three batches look like the same kind of material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017520"/>
                <a:gridCol w="530352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marker</a:t>
                      </a:r>
                    </a:p>
                  </a:txBody>
                  <a:tcPr marL="45720" marR="45720" marT="18288" marB="18288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B1 / B2 / B3</a:t>
                      </a:r>
                    </a:p>
                  </a:txBody>
                  <a:tcPr marL="45720" marR="45720" marT="18288" marB="18288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45720" marR="45720" marT="18288" marB="18288">
                    <a:solidFill>
                      <a:srgbClr val="2E86A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candidate-Si fraction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0.0595 / 0.0614 / 0.0603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~6% Si everywhere — kills 'B1 excess Si'</a:t>
                      </a:r>
                    </a:p>
                  </a:txBody>
                  <a:tcPr marL="45720" marR="45720" marT="18288" marB="18288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resolved pore fraction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0.104 / 0.108 / 0.109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same resolved porosity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pore orientation S_dir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0.585 / 0.563 / 0.573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near-horizontal pores in ALL batches</a:t>
                      </a:r>
                    </a:p>
                  </a:txBody>
                  <a:tcPr marL="45720" marR="45720" marT="18288" marB="18288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pore contact (corrected)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0.483 / 0.378 / 0.354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B1 most connected — ordering, not activity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Si enclosed share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0.720 / 0.778 / 0.781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consistent: B1 least enclosed</a:t>
                      </a:r>
                    </a:p>
                  </a:txBody>
                  <a:tcPr marL="45720" marR="45720" marT="18288" marB="18288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low-coverage Si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0.867 / 0.882 / 0.906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87–91% blind spot — sub-resolution pores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patchiness (hotspot)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3.75 / 3.78 / 4.29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equally patchy, no mega-cluster</a:t>
                      </a:r>
                    </a:p>
                  </a:txBody>
                  <a:tcPr marL="45720" marR="45720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23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1A1A2E"/>
                </a:solidFill>
              </a:rPr>
              <a:t>Constraint: 0 markers clear the declared minimum-detectable-difference</a:t>
            </a:r>
            <a:r>
              <a:rPr sz="1400">
                <a:solidFill>
                  <a:srgbClr val="1A1A2E"/>
                </a:solidFill>
              </a:rPr>
              <a:t> (v2 batch_differences: zero survivors)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dfn_output_v2/ · validated_comparison/ · orientation_analysis/ — corrected outputs, frozen recipe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The confound, quantified — and the one survivor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66666"/>
                </a:solidFill>
              </a:rPr>
              <a:t>predeclared benchmark: can any marker set classify batch?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69494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188720"/>
                <a:gridCol w="1371600"/>
                <a:gridCol w="10058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 marL="45720" marR="45720" marT="18288" marB="18288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best honest set</a:t>
                      </a:r>
                    </a:p>
                  </a:txBody>
                  <a:tcPr marL="45720" marR="45720" marT="18288" marB="18288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envelope</a:t>
                      </a:r>
                    </a:p>
                  </a:txBody>
                  <a:tcPr marL="45720" marR="45720" marT="18288" marB="18288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acq. signature</a:t>
                      </a:r>
                    </a:p>
                  </a:txBody>
                  <a:tcPr marL="45720" marR="45720" marT="18288" marB="18288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majority</a:t>
                      </a:r>
                    </a:p>
                  </a:txBody>
                  <a:tcPr marL="45720" marR="45720" marT="18288" marB="18288">
                    <a:solidFill>
                      <a:srgbClr val="2E86A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leave-one-image-out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51.6%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59.3%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61.3%  ← wins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54.8%</a:t>
                      </a:r>
                    </a:p>
                  </a:txBody>
                  <a:tcPr marL="45720" marR="45720" marT="18288" marB="18288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leave-group-out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41.9%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54.2%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38.7%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54.8%  ← ties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1A1A2E"/>
                </a:solidFill>
              </a:rPr>
              <a:t>The imaging-session signature alone beats the material envelope</a:t>
            </a:r>
            <a:r>
              <a:rPr sz="1250">
                <a:solidFill>
                  <a:srgbClr val="1A1A2E"/>
                </a:solidFill>
              </a:rPr>
              <a:t> </a:t>
            </a:r>
          </a:p>
          <a:p>
            <a:pPr lvl="1">
              <a:spcAft>
                <a:spcPts val="600"/>
              </a:spcAft>
            </a:pPr>
            <a:r>
              <a:rPr sz="1250">
                <a:solidFill>
                  <a:srgbClr val="1A1A2E"/>
                </a:solidFill>
              </a:rPr>
              <a:t>the pipeline sees the photography session better than the material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A1A2E"/>
                </a:solidFill>
              </a:rPr>
              <a:t>Corrected blind-test bookkeeping: 0/2 confirmed</a:t>
            </a:r>
            <a:r>
              <a:rPr sz="1250">
                <a:solidFill>
                  <a:srgbClr val="1A1A2E"/>
                </a:solidFill>
              </a:rPr>
              <a:t> (3e→B1 was B2,</a:t>
            </a:r>
          </a:p>
          <a:p>
            <a:pPr lvl="1">
              <a:spcAft>
                <a:spcPts val="600"/>
              </a:spcAft>
            </a:pPr>
            <a:r>
              <a:rPr sz="1250">
                <a:solidFill>
                  <a:srgbClr val="1A1A2E"/>
                </a:solidFill>
              </a:rPr>
              <a:t>fn→B2 was B1 — both flagged cant_tell_session_matched in advance)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A1A2E"/>
                </a:solidFill>
              </a:rPr>
              <a:t>Lone BH survivor: pores_per_mpx</a:t>
            </a:r>
            <a:r>
              <a:rPr sz="1250">
                <a:solidFill>
                  <a:srgbClr val="1A1A2E"/>
                </a:solidFill>
              </a:rPr>
              <a:t> — B1&gt;B3 +34.5 (p=0.0005),</a:t>
            </a:r>
          </a:p>
          <a:p>
            <a:pPr lvl="1">
              <a:spcAft>
                <a:spcPts val="600"/>
              </a:spcAft>
            </a:pPr>
            <a:r>
              <a:rPr sz="1250">
                <a:solidFill>
                  <a:srgbClr val="1A1A2E"/>
                </a:solidFill>
              </a:rPr>
              <a:t>pore_d50 agrees (more, smaller pores in B1) — but B1–B3 share ONE</a:t>
            </a:r>
          </a:p>
          <a:p>
            <a:pPr lvl="1">
              <a:spcAft>
                <a:spcPts val="600"/>
              </a:spcAft>
            </a:pPr>
            <a:r>
              <a:rPr sz="1250">
                <a:solidFill>
                  <a:srgbClr val="1A1A2E"/>
                </a:solidFill>
              </a:rPr>
              <a:t>matched image: real association, untestable confound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A1A2E"/>
                </a:solidFill>
              </a:rPr>
              <a:t>External 76–98% scores: documented as not ours</a:t>
            </a:r>
            <a:r>
              <a:rPr sz="1250">
                <a:solidFill>
                  <a:srgbClr val="1A1A2E"/>
                </a:solidFill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benchmark_results.csv · new_image_assignment/assignment_report.md · pairwise_comparisons.csv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What was fixed or withdrawn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66666"/>
                </a:solidFill>
              </a:rPr>
              <a:t>Tier X — retracted in the record, not hidden; archive/ARCHIVE.md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1A1A2E"/>
                </a:solidFill>
              </a:rPr>
              <a:t>FFT 'vertical texture'</a:t>
            </a:r>
            <a:r>
              <a:rPr sz="1500">
                <a:solidFill>
                  <a:srgbClr val="1A1A2E"/>
                </a:solidFill>
              </a:rPr>
              <a:t> — withdrawn: measured frame aspect ratio;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replaced by validated S-parameter orientation (synthetic + null tested)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A1A2E"/>
                </a:solidFill>
              </a:rPr>
              <a:t>Crack-like metric</a:t>
            </a:r>
            <a:r>
              <a:rPr sz="1500">
                <a:solidFill>
                  <a:srgbClr val="1A1A2E"/>
                </a:solidFill>
              </a:rPr>
              <a:t> — was selecting horizontal objects labeled vertical;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two definitions still disagree → report per-definition or drop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A1A2E"/>
                </a:solidFill>
              </a:rPr>
              <a:t>Accessible-Si denominator bug</a:t>
            </a:r>
            <a:r>
              <a:rPr sz="1500">
                <a:solidFill>
                  <a:srgbClr val="1A1A2E"/>
                </a:solidFill>
              </a:rPr>
              <a:t> — exemplar 0.524 → 0.371;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renamed: resolved-pore-contact proxy, not activity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A1A2E"/>
                </a:solidFill>
              </a:rPr>
              <a:t>'Uncertain-bright ≥ Si brightness'</a:t>
            </a:r>
            <a:r>
              <a:rPr sz="1500">
                <a:solidFill>
                  <a:srgbClr val="1A1A2E"/>
                </a:solidFill>
              </a:rPr>
              <a:t> — false in B1 after mask fix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(InLens 1.395 &lt; 1.459); true only in B3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A1A2E"/>
                </a:solidFill>
              </a:rPr>
              <a:t>Stats bugs</a:t>
            </a:r>
            <a:r>
              <a:rPr sz="1500">
                <a:solidFill>
                  <a:srgbClr val="1A1A2E"/>
                </a:solidFill>
              </a:rPr>
              <a:t> — BH elementwise error, NaN→p=0, QC weight leak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(redundancy fit on pooled batches) — all tables regenerated green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A1A2E"/>
                </a:solidFill>
              </a:rPr>
              <a:t>D10 particle size</a:t>
            </a:r>
            <a:r>
              <a:rPr sz="1500">
                <a:solidFill>
                  <a:srgbClr val="1A1A2E"/>
                </a:solidFill>
              </a:rPr>
              <a:t> — grazing cuts fake small particles: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demoted to 2-D profile diagnostic; tile-'jackknife' renamed tile 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Correlation layer + fresh DFN — and the honest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66666"/>
                </a:solidFill>
              </a:rPr>
              <a:t>Tier C: model-derived indicators, not measurements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4846320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45720" marR="45720" marT="18288" marB="18288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45720" marR="45720" marT="18288" marB="18288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2E86A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S2 correlation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pore len x/y anisotropy ≈1.5, all batches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independent confirmation of horizontal pores</a:t>
                      </a:r>
                    </a:p>
                  </a:txBody>
                  <a:tcPr marL="45720" marR="45720" marT="18288" marB="18288"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PCF g(r) vs CSR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peak 5.4–7.2 at ~0.75 µm, above envelope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Si clustered beyond random — everywhere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DFN v2 stress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B1−B3 = −3.0 MPa (CI −6.02,−0.02)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meaningful-looking BUT inside assumption spread (IQR 3.9)</a:t>
                      </a:r>
                    </a:p>
                  </a:txBody>
                  <a:tcPr marL="45720" marR="45720" marT="18288" marB="18288"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DFN capacity/swelling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below declared thresholds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no model-level difference</a:t>
                      </a:r>
                    </a:p>
                  </a:txBody>
                  <a:tcPr marL="45720" marR="45720" marT="18288" marB="18288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947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1A1A2E"/>
                </a:solidFill>
              </a:rPr>
              <a:t>Same amounts</a:t>
            </a:r>
            <a:r>
              <a:rPr sz="1400">
                <a:solidFill>
                  <a:srgbClr val="1A1A2E"/>
                </a:solidFill>
              </a:rPr>
              <a:t> (~6% Si, ~10% pores),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horizontally-elongated pores, Si clustered beyond random), one real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contact ordering in B1's favor — but the pipeline classifies the session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better than the material: no batch/manufacturing difference claimable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A1A2E"/>
                </a:solidFill>
              </a:rPr>
              <a:t>What remains:</a:t>
            </a:r>
            <a:r>
              <a:rPr sz="1400">
                <a:solidFill>
                  <a:srgbClr val="1A1A2E"/>
                </a:solidFill>
              </a:rPr>
              <a:t> validated descriptors + frozen honest ruler + preregistered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blind-test protocol for the six incoming images + a ledger that shows its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corr_analysis/ · dfn_output_v2/dfn_paired_differences.csv · BLIND_TEST_PROTOCOL.md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